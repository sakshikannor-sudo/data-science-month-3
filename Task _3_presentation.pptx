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2" r:id="rId3"/>
    <p:sldId id="265" r:id="rId4"/>
    <p:sldId id="269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00"/>
    <a:srgbClr val="4A4A4A"/>
    <a:srgbClr val="2ECC71"/>
    <a:srgbClr val="9EBEE2"/>
    <a:srgbClr val="7AA7D8"/>
    <a:srgbClr val="578FCD"/>
    <a:srgbClr val="3878BE"/>
    <a:srgbClr val="3168A5"/>
    <a:srgbClr val="0B1827"/>
    <a:srgbClr val="1B3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56" autoAdjust="0"/>
  </p:normalViewPr>
  <p:slideViewPr>
    <p:cSldViewPr snapToGrid="0">
      <p:cViewPr varScale="1">
        <p:scale>
          <a:sx n="75" d="100"/>
          <a:sy n="75" d="100"/>
        </p:scale>
        <p:origin x="482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21B25-A5E7-4736-BCC1-1F0EDE19DCFB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0593B-A694-4A18-976E-227024535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601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0593B-A694-4A18-976E-2270245353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68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4E9D-4953-4469-676E-E1BF2BEC4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47495-9050-D541-2398-F122D01BB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A0B3-42EB-F118-8E86-2E155258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12CB8-50DA-1020-555F-3C74C8D0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30470-5C70-085E-7D76-8138ACB0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6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11D0-2E9C-87F0-47BA-E0C87EF0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F1FD-CAE5-D7B9-0CB0-7CD71357B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82AD2-C42A-56BE-D960-2AB7AEB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05627-C21F-19A2-00CD-526C2D1B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E724-465F-21A0-4E10-09890981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1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012B-5BC1-4291-216A-E4112640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B0DE4-C8D8-5F65-C3DE-47A160CCE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C9B5-FEE9-C416-6B37-498E9E4A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D869E-9BB8-4ADC-4D0F-D702BB1D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21097-2A0F-AE44-5970-A4008589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88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6169-CB6E-7435-0225-570BB8AB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D0CE-E1AD-4AA8-CD88-6E103C534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9AEE4-C9C1-CDF9-46CD-60EB849D6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C7B71-AF03-0E82-40C2-A6EEBB18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23F4A-760B-46B3-CC4D-D67774AA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E057D-0CA6-3204-F127-0D5AD43B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6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9F35-04BB-EA6D-05E7-7DC20232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EF181-74E9-7B16-88C8-9F7E611F2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C4BE2-73DC-4B87-CC90-6977C2A71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25C88-E980-1847-D392-174936E6E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075B2-6534-2786-DEFD-2F2F876C4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EF803-A45B-B3E5-523D-DF089C29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37850-355E-06E4-1416-42A9210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C9340-1DF8-AE75-2C66-28345FCE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7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5436-A74C-5A8F-0A7F-A7BE5F6D0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5729B-A28B-D7D2-78F5-464A7E30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F8885-8B50-4238-9A1E-9D949FAC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DFA1E-5493-D922-2302-CB27410E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22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CE797-5F1E-165E-0137-72A180CB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47FF0-0E39-11CC-66AA-79F264EF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D4920-8B7B-9D5E-2DBE-21DAFBF8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1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085A-A092-A17A-0DAF-62F8C2F7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7309-890A-1DC9-CE2A-62BEAB547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9086C-49EF-DD86-29AD-C2F52472B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87FCA-8DB2-5C9B-9D93-48C26F90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6F0CF-9D72-92D7-F2CE-FD2F7C4A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C71AF-8388-6B02-5A35-2606DC1F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9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E2C3-8D92-4E95-98A3-EC534E6C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7BCD2-C842-3209-A278-524D94BBF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E2F18-32CB-E745-9F74-8B55A166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1AE45-7D32-FE1E-618F-4AF379D0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3C1FA-62D7-662C-194F-B638F4ED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26EFD-794F-11E7-08BC-E0FAA02C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8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A39A-EFAB-B6F0-2B12-A38ED61E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182C6-F73D-B0D3-683E-BBB0F7513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53837-5832-15ED-05D4-69E70EF1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4CCEF-D042-A62A-9A6F-88A73DEF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9093-9075-BBD1-0105-4F5BFAF5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7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A3E65-FE27-3AAB-C008-C1C6B2009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7D2F4-1047-B129-B775-1C3EDCA4B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776A9-075F-2028-DD98-AF89A565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87FB0-FA38-E50A-1EF4-C3A80B02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4B67C-1F89-9A59-8B08-DB1C407A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9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7B222-D2D6-D499-3E31-4587AFFC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8FC65-5C41-58E7-048B-C24F1D9A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9B06E-77E5-DB93-FE63-523DDECE8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9BBEA-42F6-46A4-8683-D9E3E100390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3B976-D230-2A48-1B47-0E0BF14F7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BFB-DE56-1A1A-6ACF-03574D089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3E81-3316-49CA-856D-34FE6906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D6F40-610D-A6A2-5907-38A18258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F9A804A-26CB-441D-9B2B-308A88D5446F}"/>
              </a:ext>
            </a:extLst>
          </p:cNvPr>
          <p:cNvSpPr/>
          <p:nvPr/>
        </p:nvSpPr>
        <p:spPr>
          <a:xfrm>
            <a:off x="-6858001" y="-1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863145 h 6858000"/>
              <a:gd name="csX3" fmla="*/ 10909816 w 11411053"/>
              <a:gd name="csY3" fmla="*/ 862778 h 6858000"/>
              <a:gd name="csX4" fmla="*/ 11311090 w 11411053"/>
              <a:gd name="csY4" fmla="*/ 862778 h 6858000"/>
              <a:gd name="csX5" fmla="*/ 11411053 w 11411053"/>
              <a:gd name="csY5" fmla="*/ 962741 h 6858000"/>
              <a:gd name="csX6" fmla="*/ 11411053 w 11411053"/>
              <a:gd name="csY6" fmla="*/ 1362582 h 6858000"/>
              <a:gd name="csX7" fmla="*/ 11311090 w 11411053"/>
              <a:gd name="csY7" fmla="*/ 1462545 h 6858000"/>
              <a:gd name="csX8" fmla="*/ 10909816 w 11411053"/>
              <a:gd name="csY8" fmla="*/ 1462545 h 6858000"/>
              <a:gd name="csX9" fmla="*/ 10908000 w 11411053"/>
              <a:gd name="csY9" fmla="*/ 1462179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863145"/>
                </a:lnTo>
                <a:lnTo>
                  <a:pt x="10909816" y="862778"/>
                </a:lnTo>
                <a:lnTo>
                  <a:pt x="11311090" y="862778"/>
                </a:lnTo>
                <a:cubicBezTo>
                  <a:pt x="11366298" y="862778"/>
                  <a:pt x="11411053" y="907533"/>
                  <a:pt x="11411053" y="962741"/>
                </a:cubicBezTo>
                <a:lnTo>
                  <a:pt x="11411053" y="1362582"/>
                </a:lnTo>
                <a:cubicBezTo>
                  <a:pt x="11411053" y="1417790"/>
                  <a:pt x="11366298" y="1462545"/>
                  <a:pt x="11311090" y="1462545"/>
                </a:cubicBezTo>
                <a:lnTo>
                  <a:pt x="10909816" y="1462545"/>
                </a:lnTo>
                <a:lnTo>
                  <a:pt x="10908000" y="1462179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EBEE2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BEFF2-1E51-F586-1106-FBF05107F3B0}"/>
              </a:ext>
            </a:extLst>
          </p:cNvPr>
          <p:cNvSpPr txBox="1"/>
          <p:nvPr/>
        </p:nvSpPr>
        <p:spPr>
          <a:xfrm>
            <a:off x="2787444" y="-18317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D2203-2E07-82B5-B849-7A755481CBC9}"/>
              </a:ext>
            </a:extLst>
          </p:cNvPr>
          <p:cNvSpPr txBox="1"/>
          <p:nvPr/>
        </p:nvSpPr>
        <p:spPr>
          <a:xfrm>
            <a:off x="-378542" y="2119814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Predictions &amp; Learnings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CC5EB-7C1A-33F8-B9A7-1626DAB96925}"/>
              </a:ext>
            </a:extLst>
          </p:cNvPr>
          <p:cNvSpPr txBox="1"/>
          <p:nvPr/>
        </p:nvSpPr>
        <p:spPr>
          <a:xfrm>
            <a:off x="-2807109" y="2576050"/>
            <a:ext cx="67645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Future Predictions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churn: 26.5% → 22% with retention programs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auto-pay users: +15% with $5 incentive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new titles: 850 (2025), 900 (2026)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TV show share: 30% → 35% by 2026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movie duration: 97 → 92 minutes (short-form trend)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Learnings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Same data science workflow applies to any domain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Data cleaning takes 80% of project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Feature engineering reveals patterns hidden in raw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Small percentage changes create significant business impact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Clear visualizations communicate better than complex statistics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8AB493-B1E6-6517-4B89-9D157BB5308F}"/>
              </a:ext>
            </a:extLst>
          </p:cNvPr>
          <p:cNvSpPr/>
          <p:nvPr/>
        </p:nvSpPr>
        <p:spPr>
          <a:xfrm>
            <a:off x="-7660048" y="-1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1996314 h 6858000"/>
              <a:gd name="csX3" fmla="*/ 10909816 w 11411053"/>
              <a:gd name="csY3" fmla="*/ 1995947 h 6858000"/>
              <a:gd name="csX4" fmla="*/ 11311090 w 11411053"/>
              <a:gd name="csY4" fmla="*/ 1995947 h 6858000"/>
              <a:gd name="csX5" fmla="*/ 11411053 w 11411053"/>
              <a:gd name="csY5" fmla="*/ 2095910 h 6858000"/>
              <a:gd name="csX6" fmla="*/ 11411053 w 11411053"/>
              <a:gd name="csY6" fmla="*/ 2495751 h 6858000"/>
              <a:gd name="csX7" fmla="*/ 11311090 w 11411053"/>
              <a:gd name="csY7" fmla="*/ 2595714 h 6858000"/>
              <a:gd name="csX8" fmla="*/ 10909816 w 11411053"/>
              <a:gd name="csY8" fmla="*/ 2595714 h 6858000"/>
              <a:gd name="csX9" fmla="*/ 10908000 w 11411053"/>
              <a:gd name="csY9" fmla="*/ 2595348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1996314"/>
                </a:lnTo>
                <a:lnTo>
                  <a:pt x="10909816" y="1995947"/>
                </a:lnTo>
                <a:lnTo>
                  <a:pt x="11311090" y="1995947"/>
                </a:lnTo>
                <a:cubicBezTo>
                  <a:pt x="11366298" y="1995947"/>
                  <a:pt x="11411053" y="2040702"/>
                  <a:pt x="11411053" y="2095910"/>
                </a:cubicBezTo>
                <a:lnTo>
                  <a:pt x="11411053" y="2495751"/>
                </a:lnTo>
                <a:cubicBezTo>
                  <a:pt x="11411053" y="2550959"/>
                  <a:pt x="11366298" y="2595714"/>
                  <a:pt x="11311090" y="2595714"/>
                </a:cubicBezTo>
                <a:lnTo>
                  <a:pt x="10909816" y="2595714"/>
                </a:lnTo>
                <a:lnTo>
                  <a:pt x="10908000" y="2595348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AA7D8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B0F50-7695-8C4F-B7FC-89F65D4345C9}"/>
              </a:ext>
            </a:extLst>
          </p:cNvPr>
          <p:cNvSpPr txBox="1"/>
          <p:nvPr/>
        </p:nvSpPr>
        <p:spPr>
          <a:xfrm>
            <a:off x="1955900" y="-242166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E8112-4128-F85F-453B-3FB29023D454}"/>
              </a:ext>
            </a:extLst>
          </p:cNvPr>
          <p:cNvSpPr txBox="1"/>
          <p:nvPr/>
        </p:nvSpPr>
        <p:spPr>
          <a:xfrm>
            <a:off x="-1180589" y="2119814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Actionable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89ADC-A949-3481-F6B4-4FDF83FEC037}"/>
              </a:ext>
            </a:extLst>
          </p:cNvPr>
          <p:cNvSpPr txBox="1"/>
          <p:nvPr/>
        </p:nvSpPr>
        <p:spPr>
          <a:xfrm>
            <a:off x="-3609156" y="2576050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Offer 15-20% discounts to convert month-to-month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 loyalty program for customers paying $80+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Proactive check-ins at months 1, 3, 6, and 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Provide $5 monthly credit for switching to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Bundle online security + tech support at discounted rates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Increase TV show investment from 30% to 35% of budget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Expand non-English originals in India, UK, South Korea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Greenlight 40% more documentary series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Schedule 40% of new releases for Q4 holiday quarter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Add more family content (TV-PG/TV-G) to diversify ratings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E6984E-9C6A-4279-E762-A73F29C98E11}"/>
              </a:ext>
            </a:extLst>
          </p:cNvPr>
          <p:cNvSpPr/>
          <p:nvPr/>
        </p:nvSpPr>
        <p:spPr>
          <a:xfrm>
            <a:off x="-8462095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3129483 h 6858000"/>
              <a:gd name="csX3" fmla="*/ 10909816 w 11411053"/>
              <a:gd name="csY3" fmla="*/ 3129116 h 6858000"/>
              <a:gd name="csX4" fmla="*/ 11311090 w 11411053"/>
              <a:gd name="csY4" fmla="*/ 3129116 h 6858000"/>
              <a:gd name="csX5" fmla="*/ 11411053 w 11411053"/>
              <a:gd name="csY5" fmla="*/ 3229079 h 6858000"/>
              <a:gd name="csX6" fmla="*/ 11411053 w 11411053"/>
              <a:gd name="csY6" fmla="*/ 3628920 h 6858000"/>
              <a:gd name="csX7" fmla="*/ 11311090 w 11411053"/>
              <a:gd name="csY7" fmla="*/ 3728883 h 6858000"/>
              <a:gd name="csX8" fmla="*/ 10909816 w 11411053"/>
              <a:gd name="csY8" fmla="*/ 3728883 h 6858000"/>
              <a:gd name="csX9" fmla="*/ 10908000 w 11411053"/>
              <a:gd name="csY9" fmla="*/ 372851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3129483"/>
                </a:lnTo>
                <a:lnTo>
                  <a:pt x="10909816" y="3129116"/>
                </a:lnTo>
                <a:lnTo>
                  <a:pt x="11311090" y="3129116"/>
                </a:lnTo>
                <a:cubicBezTo>
                  <a:pt x="11366298" y="3129116"/>
                  <a:pt x="11411053" y="3173871"/>
                  <a:pt x="11411053" y="3229079"/>
                </a:cubicBezTo>
                <a:lnTo>
                  <a:pt x="11411053" y="3628920"/>
                </a:lnTo>
                <a:cubicBezTo>
                  <a:pt x="11411053" y="3684128"/>
                  <a:pt x="11366298" y="3728883"/>
                  <a:pt x="11311090" y="3728883"/>
                </a:cubicBezTo>
                <a:lnTo>
                  <a:pt x="10909816" y="3728883"/>
                </a:lnTo>
                <a:lnTo>
                  <a:pt x="10908000" y="372851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78FCD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48916-6B5B-B316-4804-5DD9C07DEC3E}"/>
              </a:ext>
            </a:extLst>
          </p:cNvPr>
          <p:cNvSpPr txBox="1"/>
          <p:nvPr/>
        </p:nvSpPr>
        <p:spPr>
          <a:xfrm>
            <a:off x="1065363" y="-18317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33CFF-F70B-D042-5925-61C4441A0254}"/>
              </a:ext>
            </a:extLst>
          </p:cNvPr>
          <p:cNvSpPr txBox="1"/>
          <p:nvPr/>
        </p:nvSpPr>
        <p:spPr>
          <a:xfrm>
            <a:off x="-1982636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Key Discoveries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B88A0-4915-F914-174C-1B45ED9246D9}"/>
              </a:ext>
            </a:extLst>
          </p:cNvPr>
          <p:cNvSpPr txBox="1"/>
          <p:nvPr/>
        </p:nvSpPr>
        <p:spPr>
          <a:xfrm>
            <a:off x="-4411203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Month-to-month contracts: 45% churn (vs 3% for two-year)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Churned customers pay $20-30 more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50% of churn happens in first 12 months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Electronic check users churn 3x more than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 and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negatively correlate with churn (-0.35)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Movies dominate at 70.2%, TV shows only 29.8%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Content production increased 5x from 2010-2020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Top 3 genres: International Movies, Dramas, Comedies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US leads (2,500+), India #2 (900+), UK #3 (600+)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TV-MA rated content makes up 35% of library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FC5EB6-141D-5C01-2E9C-39AA234594E8}"/>
              </a:ext>
            </a:extLst>
          </p:cNvPr>
          <p:cNvSpPr/>
          <p:nvPr/>
        </p:nvSpPr>
        <p:spPr>
          <a:xfrm>
            <a:off x="-9292257" y="-2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4262652 h 6858000"/>
              <a:gd name="csX3" fmla="*/ 10909816 w 11411053"/>
              <a:gd name="csY3" fmla="*/ 4262285 h 6858000"/>
              <a:gd name="csX4" fmla="*/ 11311090 w 11411053"/>
              <a:gd name="csY4" fmla="*/ 4262285 h 6858000"/>
              <a:gd name="csX5" fmla="*/ 11411053 w 11411053"/>
              <a:gd name="csY5" fmla="*/ 4362248 h 6858000"/>
              <a:gd name="csX6" fmla="*/ 11411053 w 11411053"/>
              <a:gd name="csY6" fmla="*/ 4762089 h 6858000"/>
              <a:gd name="csX7" fmla="*/ 11311090 w 11411053"/>
              <a:gd name="csY7" fmla="*/ 4862052 h 6858000"/>
              <a:gd name="csX8" fmla="*/ 10909816 w 11411053"/>
              <a:gd name="csY8" fmla="*/ 4862052 h 6858000"/>
              <a:gd name="csX9" fmla="*/ 10908000 w 11411053"/>
              <a:gd name="csY9" fmla="*/ 486168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4262652"/>
                </a:lnTo>
                <a:lnTo>
                  <a:pt x="10909816" y="4262285"/>
                </a:lnTo>
                <a:lnTo>
                  <a:pt x="11311090" y="4262285"/>
                </a:lnTo>
                <a:cubicBezTo>
                  <a:pt x="11366298" y="4262285"/>
                  <a:pt x="11411053" y="4307040"/>
                  <a:pt x="11411053" y="4362248"/>
                </a:cubicBezTo>
                <a:lnTo>
                  <a:pt x="11411053" y="4762089"/>
                </a:lnTo>
                <a:cubicBezTo>
                  <a:pt x="11411053" y="4817297"/>
                  <a:pt x="11366298" y="4862052"/>
                  <a:pt x="11311090" y="4862052"/>
                </a:cubicBezTo>
                <a:lnTo>
                  <a:pt x="10909816" y="4862052"/>
                </a:lnTo>
                <a:lnTo>
                  <a:pt x="10908000" y="486168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78BE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312D9-CEF5-7A04-FC81-CDEA15D28BDE}"/>
              </a:ext>
            </a:extLst>
          </p:cNvPr>
          <p:cNvSpPr txBox="1"/>
          <p:nvPr/>
        </p:nvSpPr>
        <p:spPr>
          <a:xfrm>
            <a:off x="363021" y="-193006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F4299-78C1-9845-B193-BD76BE7D2D32}"/>
              </a:ext>
            </a:extLst>
          </p:cNvPr>
          <p:cNvSpPr txBox="1"/>
          <p:nvPr/>
        </p:nvSpPr>
        <p:spPr>
          <a:xfrm>
            <a:off x="-2812798" y="2119813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Data Cleaning &amp; Features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BE200-BC2F-EFCD-C3BD-A0C837D615B1}"/>
              </a:ext>
            </a:extLst>
          </p:cNvPr>
          <p:cNvSpPr txBox="1"/>
          <p:nvPr/>
        </p:nvSpPr>
        <p:spPr>
          <a:xfrm>
            <a:off x="-5241365" y="2576049"/>
            <a:ext cx="676459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Fixed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empty strings → null → float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Standardized "No internet service" to "No" (6 columns)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TenureGroup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(0-12, 13-24, 25-48, 49-72 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AvgMonthlySpend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÷ tenure)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TotalServices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(count of 8 services per customer)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Converted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date_added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from object to datetime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Filled missing Director/Cast with 'Unknown'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Split multi-country entries for proper 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release_decade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(1940s, 1950s,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Parsed duration into minutes (movies) and seasons (TV shows)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E0E277-F43A-0399-54C2-D4D6BE65A61A}"/>
              </a:ext>
            </a:extLst>
          </p:cNvPr>
          <p:cNvSpPr/>
          <p:nvPr/>
        </p:nvSpPr>
        <p:spPr>
          <a:xfrm>
            <a:off x="-10050721" y="-2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895815-555F-FEA6-EF2F-AF37BDAF1A9D}"/>
              </a:ext>
            </a:extLst>
          </p:cNvPr>
          <p:cNvSpPr txBox="1"/>
          <p:nvPr/>
        </p:nvSpPr>
        <p:spPr>
          <a:xfrm>
            <a:off x="-388373" y="-202840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7B0A8-13AD-BB5E-5BEE-8E8F4D4EBEAA}"/>
              </a:ext>
            </a:extLst>
          </p:cNvPr>
          <p:cNvSpPr txBox="1"/>
          <p:nvPr/>
        </p:nvSpPr>
        <p:spPr>
          <a:xfrm>
            <a:off x="-3571262" y="2119813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F96282-7A52-9D75-1F51-97513AC87443}"/>
              </a:ext>
            </a:extLst>
          </p:cNvPr>
          <p:cNvSpPr txBox="1"/>
          <p:nvPr/>
        </p:nvSpPr>
        <p:spPr>
          <a:xfrm>
            <a:off x="-5999830" y="2585881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E214DE-C7C1-6F44-0416-DA63DC095CFD}"/>
              </a:ext>
            </a:extLst>
          </p:cNvPr>
          <p:cNvSpPr txBox="1"/>
          <p:nvPr/>
        </p:nvSpPr>
        <p:spPr>
          <a:xfrm>
            <a:off x="4886960" y="1859280"/>
            <a:ext cx="6817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rgbClr val="FFB300"/>
                </a:solidFill>
                <a:latin typeface="Perpetua Titling MT" panose="02020502060505020804" pitchFamily="18" charset="0"/>
              </a:rPr>
              <a:t>Business vs Entertainment Data Comparison</a:t>
            </a:r>
          </a:p>
        </p:txBody>
      </p:sp>
    </p:spTree>
    <p:extLst>
      <p:ext uri="{BB962C8B-B14F-4D97-AF65-F5344CB8AC3E}">
        <p14:creationId xmlns:p14="http://schemas.microsoft.com/office/powerpoint/2010/main" val="3721596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9BA0F-2B6F-5017-AB5D-1B3DCEED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9A4E65-5D25-DAB5-7482-CF91A2BDEB3F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97DFF-443D-EFE9-50B9-7CC11210E800}"/>
              </a:ext>
            </a:extLst>
          </p:cNvPr>
          <p:cNvSpPr txBox="1"/>
          <p:nvPr/>
        </p:nvSpPr>
        <p:spPr>
          <a:xfrm>
            <a:off x="10554211" y="-9468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D772F-6490-2F01-072F-9CAAD88F3B23}"/>
              </a:ext>
            </a:extLst>
          </p:cNvPr>
          <p:cNvSpPr txBox="1"/>
          <p:nvPr/>
        </p:nvSpPr>
        <p:spPr>
          <a:xfrm>
            <a:off x="7260405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FB108-E0DF-45DA-8657-DAB78E08AB0D}"/>
              </a:ext>
            </a:extLst>
          </p:cNvPr>
          <p:cNvSpPr txBox="1"/>
          <p:nvPr/>
        </p:nvSpPr>
        <p:spPr>
          <a:xfrm>
            <a:off x="4831837" y="2585883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</p:spTree>
    <p:extLst>
      <p:ext uri="{BB962C8B-B14F-4D97-AF65-F5344CB8AC3E}">
        <p14:creationId xmlns:p14="http://schemas.microsoft.com/office/powerpoint/2010/main" val="298565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6EDBF-CF32-F332-30FD-B0FCB2F4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1256D9-D127-6E68-8580-A5FAED2B5749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ED29A-9D2B-7032-1A22-D689B599771F}"/>
              </a:ext>
            </a:extLst>
          </p:cNvPr>
          <p:cNvSpPr txBox="1"/>
          <p:nvPr/>
        </p:nvSpPr>
        <p:spPr>
          <a:xfrm>
            <a:off x="10554211" y="-9468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B6336-EEB4-10B6-89E6-2DA45F6B9A3A}"/>
              </a:ext>
            </a:extLst>
          </p:cNvPr>
          <p:cNvSpPr txBox="1"/>
          <p:nvPr/>
        </p:nvSpPr>
        <p:spPr>
          <a:xfrm>
            <a:off x="7260405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44064-E922-9A5F-4836-AA5112011AB0}"/>
              </a:ext>
            </a:extLst>
          </p:cNvPr>
          <p:cNvSpPr txBox="1"/>
          <p:nvPr/>
        </p:nvSpPr>
        <p:spPr>
          <a:xfrm>
            <a:off x="4831837" y="2585883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128C10A-74FC-95DD-FC10-4AFCB4EB346E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4262652 h 6858000"/>
              <a:gd name="csX3" fmla="*/ 10909816 w 11411053"/>
              <a:gd name="csY3" fmla="*/ 4262285 h 6858000"/>
              <a:gd name="csX4" fmla="*/ 11311090 w 11411053"/>
              <a:gd name="csY4" fmla="*/ 4262285 h 6858000"/>
              <a:gd name="csX5" fmla="*/ 11411053 w 11411053"/>
              <a:gd name="csY5" fmla="*/ 4362248 h 6858000"/>
              <a:gd name="csX6" fmla="*/ 11411053 w 11411053"/>
              <a:gd name="csY6" fmla="*/ 4762089 h 6858000"/>
              <a:gd name="csX7" fmla="*/ 11311090 w 11411053"/>
              <a:gd name="csY7" fmla="*/ 4862052 h 6858000"/>
              <a:gd name="csX8" fmla="*/ 10909816 w 11411053"/>
              <a:gd name="csY8" fmla="*/ 4862052 h 6858000"/>
              <a:gd name="csX9" fmla="*/ 10908000 w 11411053"/>
              <a:gd name="csY9" fmla="*/ 486168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4262652"/>
                </a:lnTo>
                <a:lnTo>
                  <a:pt x="10909816" y="4262285"/>
                </a:lnTo>
                <a:lnTo>
                  <a:pt x="11311090" y="4262285"/>
                </a:lnTo>
                <a:cubicBezTo>
                  <a:pt x="11366298" y="4262285"/>
                  <a:pt x="11411053" y="4307040"/>
                  <a:pt x="11411053" y="4362248"/>
                </a:cubicBezTo>
                <a:lnTo>
                  <a:pt x="11411053" y="4762089"/>
                </a:lnTo>
                <a:cubicBezTo>
                  <a:pt x="11411053" y="4817297"/>
                  <a:pt x="11366298" y="4862052"/>
                  <a:pt x="11311090" y="4862052"/>
                </a:cubicBezTo>
                <a:lnTo>
                  <a:pt x="10909816" y="4862052"/>
                </a:lnTo>
                <a:lnTo>
                  <a:pt x="10908000" y="486168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78BE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59BEC-6511-6693-6044-8F02F2F1DE5F}"/>
              </a:ext>
            </a:extLst>
          </p:cNvPr>
          <p:cNvSpPr txBox="1"/>
          <p:nvPr/>
        </p:nvSpPr>
        <p:spPr>
          <a:xfrm>
            <a:off x="10436225" y="-193004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1871B-816D-8212-F9D5-03670C99589D}"/>
              </a:ext>
            </a:extLst>
          </p:cNvPr>
          <p:cNvSpPr txBox="1"/>
          <p:nvPr/>
        </p:nvSpPr>
        <p:spPr>
          <a:xfrm>
            <a:off x="7260406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Data Cleaning &amp;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BAF62-4F8A-22C4-DBD5-0CC7E36F1A45}"/>
              </a:ext>
            </a:extLst>
          </p:cNvPr>
          <p:cNvSpPr txBox="1"/>
          <p:nvPr/>
        </p:nvSpPr>
        <p:spPr>
          <a:xfrm>
            <a:off x="4831839" y="2576051"/>
            <a:ext cx="676459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Fixed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empty strings → null → float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Standardized "No internet service" to "No" (6 columns)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TenureGroup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(0-12, 13-24, 25-48, 49-72 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AvgMonthlySpend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÷ tenure)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TotalServices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(count of 8 services per customer)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Converted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date_added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from object to datetime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Filled missing Director/Cast with 'Unknown'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Split multi-country entries for proper 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release_decade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(1940s, 1950s,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Parsed duration into minutes (movies) and seasons (TV shows)</a:t>
            </a:r>
          </a:p>
        </p:txBody>
      </p:sp>
    </p:spTree>
    <p:extLst>
      <p:ext uri="{BB962C8B-B14F-4D97-AF65-F5344CB8AC3E}">
        <p14:creationId xmlns:p14="http://schemas.microsoft.com/office/powerpoint/2010/main" val="312529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8E563-52D6-174B-69F3-22AF3512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F4CFA6-400C-023D-68AC-597C386673EC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2D87A-E0CB-03CD-61F4-0278E5A585E7}"/>
              </a:ext>
            </a:extLst>
          </p:cNvPr>
          <p:cNvSpPr txBox="1"/>
          <p:nvPr/>
        </p:nvSpPr>
        <p:spPr>
          <a:xfrm>
            <a:off x="10554211" y="-9468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5BE3C-5372-0603-8EE9-F6FA09D577D7}"/>
              </a:ext>
            </a:extLst>
          </p:cNvPr>
          <p:cNvSpPr txBox="1"/>
          <p:nvPr/>
        </p:nvSpPr>
        <p:spPr>
          <a:xfrm>
            <a:off x="7260405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5CD48-FFAC-825E-AD90-A3E5919C945C}"/>
              </a:ext>
            </a:extLst>
          </p:cNvPr>
          <p:cNvSpPr txBox="1"/>
          <p:nvPr/>
        </p:nvSpPr>
        <p:spPr>
          <a:xfrm>
            <a:off x="4831837" y="2585883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C2F47E-1502-9F07-227E-FE7CD0736F76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4262652 h 6858000"/>
              <a:gd name="csX3" fmla="*/ 10909816 w 11411053"/>
              <a:gd name="csY3" fmla="*/ 4262285 h 6858000"/>
              <a:gd name="csX4" fmla="*/ 11311090 w 11411053"/>
              <a:gd name="csY4" fmla="*/ 4262285 h 6858000"/>
              <a:gd name="csX5" fmla="*/ 11411053 w 11411053"/>
              <a:gd name="csY5" fmla="*/ 4362248 h 6858000"/>
              <a:gd name="csX6" fmla="*/ 11411053 w 11411053"/>
              <a:gd name="csY6" fmla="*/ 4762089 h 6858000"/>
              <a:gd name="csX7" fmla="*/ 11311090 w 11411053"/>
              <a:gd name="csY7" fmla="*/ 4862052 h 6858000"/>
              <a:gd name="csX8" fmla="*/ 10909816 w 11411053"/>
              <a:gd name="csY8" fmla="*/ 4862052 h 6858000"/>
              <a:gd name="csX9" fmla="*/ 10908000 w 11411053"/>
              <a:gd name="csY9" fmla="*/ 486168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4262652"/>
                </a:lnTo>
                <a:lnTo>
                  <a:pt x="10909816" y="4262285"/>
                </a:lnTo>
                <a:lnTo>
                  <a:pt x="11311090" y="4262285"/>
                </a:lnTo>
                <a:cubicBezTo>
                  <a:pt x="11366298" y="4262285"/>
                  <a:pt x="11411053" y="4307040"/>
                  <a:pt x="11411053" y="4362248"/>
                </a:cubicBezTo>
                <a:lnTo>
                  <a:pt x="11411053" y="4762089"/>
                </a:lnTo>
                <a:cubicBezTo>
                  <a:pt x="11411053" y="4817297"/>
                  <a:pt x="11366298" y="4862052"/>
                  <a:pt x="11311090" y="4862052"/>
                </a:cubicBezTo>
                <a:lnTo>
                  <a:pt x="10909816" y="4862052"/>
                </a:lnTo>
                <a:lnTo>
                  <a:pt x="10908000" y="486168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78BE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B4D28-896C-083D-1A53-0AA599D588DF}"/>
              </a:ext>
            </a:extLst>
          </p:cNvPr>
          <p:cNvSpPr txBox="1"/>
          <p:nvPr/>
        </p:nvSpPr>
        <p:spPr>
          <a:xfrm>
            <a:off x="10436225" y="-193004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541B4-BEF7-509B-748C-99C760E2B752}"/>
              </a:ext>
            </a:extLst>
          </p:cNvPr>
          <p:cNvSpPr txBox="1"/>
          <p:nvPr/>
        </p:nvSpPr>
        <p:spPr>
          <a:xfrm>
            <a:off x="7260406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Data Cleaning &amp;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F4828C-4135-5527-48A6-828E962294A6}"/>
              </a:ext>
            </a:extLst>
          </p:cNvPr>
          <p:cNvSpPr txBox="1"/>
          <p:nvPr/>
        </p:nvSpPr>
        <p:spPr>
          <a:xfrm>
            <a:off x="4831839" y="2576051"/>
            <a:ext cx="676459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Fixed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empty strings → null → float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Standardized "No internet service" to "No" (6 columns)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TenureGroup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(0-12, 13-24, 25-48, 49-72 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AvgMonthlySpend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÷ tenure)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TotalServices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(count of 8 services per customer)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Converted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date_added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from object to datetime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Filled missing Director/Cast with 'Unknown'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Split multi-country entries for proper 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release_decade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(1940s, 1950s,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Parsed duration into minutes (movies) and seasons (TV shows)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B739C62-9812-DA8D-9C4D-E98DE9A324B3}"/>
              </a:ext>
            </a:extLst>
          </p:cNvPr>
          <p:cNvSpPr/>
          <p:nvPr/>
        </p:nvSpPr>
        <p:spPr>
          <a:xfrm>
            <a:off x="780945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3129483 h 6858000"/>
              <a:gd name="csX3" fmla="*/ 10909816 w 11411053"/>
              <a:gd name="csY3" fmla="*/ 3129116 h 6858000"/>
              <a:gd name="csX4" fmla="*/ 11311090 w 11411053"/>
              <a:gd name="csY4" fmla="*/ 3129116 h 6858000"/>
              <a:gd name="csX5" fmla="*/ 11411053 w 11411053"/>
              <a:gd name="csY5" fmla="*/ 3229079 h 6858000"/>
              <a:gd name="csX6" fmla="*/ 11411053 w 11411053"/>
              <a:gd name="csY6" fmla="*/ 3628920 h 6858000"/>
              <a:gd name="csX7" fmla="*/ 11311090 w 11411053"/>
              <a:gd name="csY7" fmla="*/ 3728883 h 6858000"/>
              <a:gd name="csX8" fmla="*/ 10909816 w 11411053"/>
              <a:gd name="csY8" fmla="*/ 3728883 h 6858000"/>
              <a:gd name="csX9" fmla="*/ 10908000 w 11411053"/>
              <a:gd name="csY9" fmla="*/ 372851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3129483"/>
                </a:lnTo>
                <a:lnTo>
                  <a:pt x="10909816" y="3129116"/>
                </a:lnTo>
                <a:lnTo>
                  <a:pt x="11311090" y="3129116"/>
                </a:lnTo>
                <a:cubicBezTo>
                  <a:pt x="11366298" y="3129116"/>
                  <a:pt x="11411053" y="3173871"/>
                  <a:pt x="11411053" y="3229079"/>
                </a:cubicBezTo>
                <a:lnTo>
                  <a:pt x="11411053" y="3628920"/>
                </a:lnTo>
                <a:cubicBezTo>
                  <a:pt x="11411053" y="3684128"/>
                  <a:pt x="11366298" y="3728883"/>
                  <a:pt x="11311090" y="3728883"/>
                </a:cubicBezTo>
                <a:lnTo>
                  <a:pt x="10909816" y="3728883"/>
                </a:lnTo>
                <a:lnTo>
                  <a:pt x="10908000" y="372851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78FCD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48F66-48E3-AF0D-00FE-862CE01F5A3F}"/>
              </a:ext>
            </a:extLst>
          </p:cNvPr>
          <p:cNvSpPr txBox="1"/>
          <p:nvPr/>
        </p:nvSpPr>
        <p:spPr>
          <a:xfrm>
            <a:off x="10308403" y="-18317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19AB8-FE44-B245-6D1B-88F2B506DDF0}"/>
              </a:ext>
            </a:extLst>
          </p:cNvPr>
          <p:cNvSpPr txBox="1"/>
          <p:nvPr/>
        </p:nvSpPr>
        <p:spPr>
          <a:xfrm>
            <a:off x="7260404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Key Discoveries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327CF-B459-F8CA-49AD-D6875A117DA5}"/>
              </a:ext>
            </a:extLst>
          </p:cNvPr>
          <p:cNvSpPr txBox="1"/>
          <p:nvPr/>
        </p:nvSpPr>
        <p:spPr>
          <a:xfrm>
            <a:off x="4831837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Month-to-month contracts: 45% churn (vs 3% for two-year)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Churned customers pay $20-30 more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50% of churn happens in first 12 months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Electronic check users churn 3x more than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 and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negatively correlate with churn (-0.35)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Movies dominate at 70.2%, TV shows only 29.8%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Content production increased 5x from 2010-2020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Top 3 genres: International Movies, Dramas, Comedies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US leads (2,500+), India #2 (900+), UK #3 (600+)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TV-MA rated content makes up 35% of library</a:t>
            </a:r>
          </a:p>
        </p:txBody>
      </p:sp>
    </p:spTree>
    <p:extLst>
      <p:ext uri="{BB962C8B-B14F-4D97-AF65-F5344CB8AC3E}">
        <p14:creationId xmlns:p14="http://schemas.microsoft.com/office/powerpoint/2010/main" val="230686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45511-F277-F9D7-76D4-064C0BC0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9B2E7C-EDA2-DB1F-AE44-ABB3E341C7AB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D17F36-C4C3-C4F8-D61A-35EEA5703A1B}"/>
              </a:ext>
            </a:extLst>
          </p:cNvPr>
          <p:cNvSpPr txBox="1"/>
          <p:nvPr/>
        </p:nvSpPr>
        <p:spPr>
          <a:xfrm>
            <a:off x="10554211" y="-9468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20568-D56D-9968-CD62-E054AAF66229}"/>
              </a:ext>
            </a:extLst>
          </p:cNvPr>
          <p:cNvSpPr txBox="1"/>
          <p:nvPr/>
        </p:nvSpPr>
        <p:spPr>
          <a:xfrm>
            <a:off x="7260405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63971-E04D-73B1-57E2-5B97457A7C30}"/>
              </a:ext>
            </a:extLst>
          </p:cNvPr>
          <p:cNvSpPr txBox="1"/>
          <p:nvPr/>
        </p:nvSpPr>
        <p:spPr>
          <a:xfrm>
            <a:off x="4831837" y="2585883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C83A86-636B-68ED-F069-2C37181023CC}"/>
              </a:ext>
            </a:extLst>
          </p:cNvPr>
          <p:cNvSpPr/>
          <p:nvPr/>
        </p:nvSpPr>
        <p:spPr>
          <a:xfrm>
            <a:off x="780946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4262652 h 6858000"/>
              <a:gd name="csX3" fmla="*/ 10909816 w 11411053"/>
              <a:gd name="csY3" fmla="*/ 4262285 h 6858000"/>
              <a:gd name="csX4" fmla="*/ 11311090 w 11411053"/>
              <a:gd name="csY4" fmla="*/ 4262285 h 6858000"/>
              <a:gd name="csX5" fmla="*/ 11411053 w 11411053"/>
              <a:gd name="csY5" fmla="*/ 4362248 h 6858000"/>
              <a:gd name="csX6" fmla="*/ 11411053 w 11411053"/>
              <a:gd name="csY6" fmla="*/ 4762089 h 6858000"/>
              <a:gd name="csX7" fmla="*/ 11311090 w 11411053"/>
              <a:gd name="csY7" fmla="*/ 4862052 h 6858000"/>
              <a:gd name="csX8" fmla="*/ 10909816 w 11411053"/>
              <a:gd name="csY8" fmla="*/ 4862052 h 6858000"/>
              <a:gd name="csX9" fmla="*/ 10908000 w 11411053"/>
              <a:gd name="csY9" fmla="*/ 486168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4262652"/>
                </a:lnTo>
                <a:lnTo>
                  <a:pt x="10909816" y="4262285"/>
                </a:lnTo>
                <a:lnTo>
                  <a:pt x="11311090" y="4262285"/>
                </a:lnTo>
                <a:cubicBezTo>
                  <a:pt x="11366298" y="4262285"/>
                  <a:pt x="11411053" y="4307040"/>
                  <a:pt x="11411053" y="4362248"/>
                </a:cubicBezTo>
                <a:lnTo>
                  <a:pt x="11411053" y="4762089"/>
                </a:lnTo>
                <a:cubicBezTo>
                  <a:pt x="11411053" y="4817297"/>
                  <a:pt x="11366298" y="4862052"/>
                  <a:pt x="11311090" y="4862052"/>
                </a:cubicBezTo>
                <a:lnTo>
                  <a:pt x="10909816" y="4862052"/>
                </a:lnTo>
                <a:lnTo>
                  <a:pt x="10908000" y="486168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78BE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55E96-33CF-5B3C-9825-E090CDC1BEF0}"/>
              </a:ext>
            </a:extLst>
          </p:cNvPr>
          <p:cNvSpPr txBox="1"/>
          <p:nvPr/>
        </p:nvSpPr>
        <p:spPr>
          <a:xfrm>
            <a:off x="9973330" y="-193004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5643C-3CD6-0811-84C6-1F1B89EFF5AB}"/>
              </a:ext>
            </a:extLst>
          </p:cNvPr>
          <p:cNvSpPr txBox="1"/>
          <p:nvPr/>
        </p:nvSpPr>
        <p:spPr>
          <a:xfrm>
            <a:off x="6797511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Data Cleaning &amp;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F63F0-86FF-E119-331D-DED02E9EBE64}"/>
              </a:ext>
            </a:extLst>
          </p:cNvPr>
          <p:cNvSpPr txBox="1"/>
          <p:nvPr/>
        </p:nvSpPr>
        <p:spPr>
          <a:xfrm>
            <a:off x="4368944" y="2576051"/>
            <a:ext cx="676459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Fixed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empty strings → null → float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Standardized "No internet service" to "No" (6 columns)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TenureGroup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(0-12, 13-24, 25-48, 49-72 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AvgMonthlySpend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÷ tenure)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TotalServices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(count of 8 services per customer)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Converted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date_added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from object to datetime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Filled missing Director/Cast with 'Unknown'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Split multi-country entries for proper 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release_decade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(1940s, 1950s,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Parsed duration into minutes (movies) and seasons (TV shows)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87A078-0F4E-ED7E-FF3C-33DEE6749DE3}"/>
              </a:ext>
            </a:extLst>
          </p:cNvPr>
          <p:cNvSpPr/>
          <p:nvPr/>
        </p:nvSpPr>
        <p:spPr>
          <a:xfrm>
            <a:off x="780945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3129483 h 6858000"/>
              <a:gd name="csX3" fmla="*/ 10909816 w 11411053"/>
              <a:gd name="csY3" fmla="*/ 3129116 h 6858000"/>
              <a:gd name="csX4" fmla="*/ 11311090 w 11411053"/>
              <a:gd name="csY4" fmla="*/ 3129116 h 6858000"/>
              <a:gd name="csX5" fmla="*/ 11411053 w 11411053"/>
              <a:gd name="csY5" fmla="*/ 3229079 h 6858000"/>
              <a:gd name="csX6" fmla="*/ 11411053 w 11411053"/>
              <a:gd name="csY6" fmla="*/ 3628920 h 6858000"/>
              <a:gd name="csX7" fmla="*/ 11311090 w 11411053"/>
              <a:gd name="csY7" fmla="*/ 3728883 h 6858000"/>
              <a:gd name="csX8" fmla="*/ 10909816 w 11411053"/>
              <a:gd name="csY8" fmla="*/ 3728883 h 6858000"/>
              <a:gd name="csX9" fmla="*/ 10908000 w 11411053"/>
              <a:gd name="csY9" fmla="*/ 372851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3129483"/>
                </a:lnTo>
                <a:lnTo>
                  <a:pt x="10909816" y="3129116"/>
                </a:lnTo>
                <a:lnTo>
                  <a:pt x="11311090" y="3129116"/>
                </a:lnTo>
                <a:cubicBezTo>
                  <a:pt x="11366298" y="3129116"/>
                  <a:pt x="11411053" y="3173871"/>
                  <a:pt x="11411053" y="3229079"/>
                </a:cubicBezTo>
                <a:lnTo>
                  <a:pt x="11411053" y="3628920"/>
                </a:lnTo>
                <a:cubicBezTo>
                  <a:pt x="11411053" y="3684128"/>
                  <a:pt x="11366298" y="3728883"/>
                  <a:pt x="11311090" y="3728883"/>
                </a:cubicBezTo>
                <a:lnTo>
                  <a:pt x="10909816" y="3728883"/>
                </a:lnTo>
                <a:lnTo>
                  <a:pt x="10908000" y="372851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78FCD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2CA15-7DB2-7393-F5ED-6466C89D4C9A}"/>
              </a:ext>
            </a:extLst>
          </p:cNvPr>
          <p:cNvSpPr txBox="1"/>
          <p:nvPr/>
        </p:nvSpPr>
        <p:spPr>
          <a:xfrm>
            <a:off x="10308403" y="-18317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C98F2A-FBBE-ACCB-E553-7056B5CFE550}"/>
              </a:ext>
            </a:extLst>
          </p:cNvPr>
          <p:cNvSpPr txBox="1"/>
          <p:nvPr/>
        </p:nvSpPr>
        <p:spPr>
          <a:xfrm>
            <a:off x="7260404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Key Discoveries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CD3318-9EC3-FF28-59A2-677D23565056}"/>
              </a:ext>
            </a:extLst>
          </p:cNvPr>
          <p:cNvSpPr txBox="1"/>
          <p:nvPr/>
        </p:nvSpPr>
        <p:spPr>
          <a:xfrm>
            <a:off x="4831837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Month-to-month contracts: 45% churn (vs 3% for two-year)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Churned customers pay $20-30 more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50% of churn happens in first 12 months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Electronic check users churn 3x more than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 and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negatively correlate with churn (-0.35)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Movies dominate at 70.2%, TV shows only 29.8%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Content production increased 5x from 2010-2020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Top 3 genres: International Movies, Dramas, Comedies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US leads (2,500+), India #2 (900+), UK #3 (600+)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TV-MA rated content makes up 35% of library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FC68AB-75FF-F45E-FE70-ED3D4148E8EA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1996314 h 6858000"/>
              <a:gd name="csX3" fmla="*/ 10909816 w 11411053"/>
              <a:gd name="csY3" fmla="*/ 1995947 h 6858000"/>
              <a:gd name="csX4" fmla="*/ 11311090 w 11411053"/>
              <a:gd name="csY4" fmla="*/ 1995947 h 6858000"/>
              <a:gd name="csX5" fmla="*/ 11411053 w 11411053"/>
              <a:gd name="csY5" fmla="*/ 2095910 h 6858000"/>
              <a:gd name="csX6" fmla="*/ 11411053 w 11411053"/>
              <a:gd name="csY6" fmla="*/ 2495751 h 6858000"/>
              <a:gd name="csX7" fmla="*/ 11311090 w 11411053"/>
              <a:gd name="csY7" fmla="*/ 2595714 h 6858000"/>
              <a:gd name="csX8" fmla="*/ 10909816 w 11411053"/>
              <a:gd name="csY8" fmla="*/ 2595714 h 6858000"/>
              <a:gd name="csX9" fmla="*/ 10908000 w 11411053"/>
              <a:gd name="csY9" fmla="*/ 2595348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1996314"/>
                </a:lnTo>
                <a:lnTo>
                  <a:pt x="10909816" y="1995947"/>
                </a:lnTo>
                <a:lnTo>
                  <a:pt x="11311090" y="1995947"/>
                </a:lnTo>
                <a:cubicBezTo>
                  <a:pt x="11366298" y="1995947"/>
                  <a:pt x="11411053" y="2040702"/>
                  <a:pt x="11411053" y="2095910"/>
                </a:cubicBezTo>
                <a:lnTo>
                  <a:pt x="11411053" y="2495751"/>
                </a:lnTo>
                <a:cubicBezTo>
                  <a:pt x="11411053" y="2550959"/>
                  <a:pt x="11366298" y="2595714"/>
                  <a:pt x="11311090" y="2595714"/>
                </a:cubicBezTo>
                <a:lnTo>
                  <a:pt x="10909816" y="2595714"/>
                </a:lnTo>
                <a:lnTo>
                  <a:pt x="10908000" y="2595348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AA7D8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5C887-794F-5C3F-A7D7-E7219663DBF0}"/>
              </a:ext>
            </a:extLst>
          </p:cNvPr>
          <p:cNvSpPr txBox="1"/>
          <p:nvPr/>
        </p:nvSpPr>
        <p:spPr>
          <a:xfrm>
            <a:off x="10396895" y="-242165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BEC2-EE96-9511-325A-84F6914CF2D7}"/>
              </a:ext>
            </a:extLst>
          </p:cNvPr>
          <p:cNvSpPr txBox="1"/>
          <p:nvPr/>
        </p:nvSpPr>
        <p:spPr>
          <a:xfrm>
            <a:off x="7260406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Actionable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141231-A1B5-D18A-B0D3-6FD926D617AF}"/>
              </a:ext>
            </a:extLst>
          </p:cNvPr>
          <p:cNvSpPr txBox="1"/>
          <p:nvPr/>
        </p:nvSpPr>
        <p:spPr>
          <a:xfrm>
            <a:off x="4831839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Offer 15-20% discounts to convert month-to-month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 loyalty program for customers paying $80+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Proactive check-ins at months 1, 3, 6, and 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Provide $5 monthly credit for switching to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Bundle online security + tech support at discounted rates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Increase TV show investment from 30% to 35% of budget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Expand non-English originals in India, UK, South Korea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Greenlight 40% more documentary series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Schedule 40% of new releases for Q4 holiday quarter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Add more family content (TV-PG/TV-G) to diversify ratings</a:t>
            </a:r>
          </a:p>
        </p:txBody>
      </p:sp>
    </p:spTree>
    <p:extLst>
      <p:ext uri="{BB962C8B-B14F-4D97-AF65-F5344CB8AC3E}">
        <p14:creationId xmlns:p14="http://schemas.microsoft.com/office/powerpoint/2010/main" val="1414161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778EA-741A-4597-76FF-5646D6F6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9999D2-B32C-FBF3-B45C-56D2E8631C1F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5395822 h 6858000"/>
              <a:gd name="csX3" fmla="*/ 10909816 w 11411053"/>
              <a:gd name="csY3" fmla="*/ 5395455 h 6858000"/>
              <a:gd name="csX4" fmla="*/ 11311090 w 11411053"/>
              <a:gd name="csY4" fmla="*/ 5395455 h 6858000"/>
              <a:gd name="csX5" fmla="*/ 11411053 w 11411053"/>
              <a:gd name="csY5" fmla="*/ 5495418 h 6858000"/>
              <a:gd name="csX6" fmla="*/ 11411053 w 11411053"/>
              <a:gd name="csY6" fmla="*/ 5895259 h 6858000"/>
              <a:gd name="csX7" fmla="*/ 11311090 w 11411053"/>
              <a:gd name="csY7" fmla="*/ 5995222 h 6858000"/>
              <a:gd name="csX8" fmla="*/ 10909816 w 11411053"/>
              <a:gd name="csY8" fmla="*/ 5995222 h 6858000"/>
              <a:gd name="csX9" fmla="*/ 10908000 w 11411053"/>
              <a:gd name="csY9" fmla="*/ 599485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5395822"/>
                </a:lnTo>
                <a:lnTo>
                  <a:pt x="10909816" y="5395455"/>
                </a:lnTo>
                <a:lnTo>
                  <a:pt x="11311090" y="5395455"/>
                </a:lnTo>
                <a:cubicBezTo>
                  <a:pt x="11366298" y="5395455"/>
                  <a:pt x="11411053" y="5440210"/>
                  <a:pt x="11411053" y="5495418"/>
                </a:cubicBezTo>
                <a:lnTo>
                  <a:pt x="11411053" y="5895259"/>
                </a:lnTo>
                <a:cubicBezTo>
                  <a:pt x="11411053" y="5950467"/>
                  <a:pt x="11366298" y="5995222"/>
                  <a:pt x="11311090" y="5995222"/>
                </a:cubicBezTo>
                <a:lnTo>
                  <a:pt x="10909816" y="5995222"/>
                </a:lnTo>
                <a:lnTo>
                  <a:pt x="10908000" y="599485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168A5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F3510-D1E4-905F-86B9-595DB30322E8}"/>
              </a:ext>
            </a:extLst>
          </p:cNvPr>
          <p:cNvSpPr txBox="1"/>
          <p:nvPr/>
        </p:nvSpPr>
        <p:spPr>
          <a:xfrm>
            <a:off x="10554211" y="-9468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1F2E5-36DC-6C09-6E05-30C141ED04C5}"/>
              </a:ext>
            </a:extLst>
          </p:cNvPr>
          <p:cNvSpPr txBox="1"/>
          <p:nvPr/>
        </p:nvSpPr>
        <p:spPr>
          <a:xfrm>
            <a:off x="7260405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>
                    <a:alpha val="94000"/>
                  </a:srgbClr>
                </a:solidFill>
                <a:latin typeface="Lucida Bright" panose="02040602050505020304" pitchFamily="18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0A75A-110B-56B9-278E-592D353E06EC}"/>
              </a:ext>
            </a:extLst>
          </p:cNvPr>
          <p:cNvSpPr txBox="1"/>
          <p:nvPr/>
        </p:nvSpPr>
        <p:spPr>
          <a:xfrm>
            <a:off x="4831837" y="2585883"/>
            <a:ext cx="67645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 (Business)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Predict which customers will cancel telecom service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7,043 customers, 26.5% churn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Contract type, monthly charges, tenure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at-risk customers for retention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Retention costs 5-10x less than acquisition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 (Entertainment)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Analyze 8,807 movies and TV shows content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70% Movies, 30% TV Shows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drivers: Release year, country, genre,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Goal: Identify content trends for programming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value: Optimize content investment for growth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495221-C327-914C-3DAD-A7842F6F64B7}"/>
              </a:ext>
            </a:extLst>
          </p:cNvPr>
          <p:cNvSpPr/>
          <p:nvPr/>
        </p:nvSpPr>
        <p:spPr>
          <a:xfrm>
            <a:off x="780946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4262652 h 6858000"/>
              <a:gd name="csX3" fmla="*/ 10909816 w 11411053"/>
              <a:gd name="csY3" fmla="*/ 4262285 h 6858000"/>
              <a:gd name="csX4" fmla="*/ 11311090 w 11411053"/>
              <a:gd name="csY4" fmla="*/ 4262285 h 6858000"/>
              <a:gd name="csX5" fmla="*/ 11411053 w 11411053"/>
              <a:gd name="csY5" fmla="*/ 4362248 h 6858000"/>
              <a:gd name="csX6" fmla="*/ 11411053 w 11411053"/>
              <a:gd name="csY6" fmla="*/ 4762089 h 6858000"/>
              <a:gd name="csX7" fmla="*/ 11311090 w 11411053"/>
              <a:gd name="csY7" fmla="*/ 4862052 h 6858000"/>
              <a:gd name="csX8" fmla="*/ 10909816 w 11411053"/>
              <a:gd name="csY8" fmla="*/ 4862052 h 6858000"/>
              <a:gd name="csX9" fmla="*/ 10908000 w 11411053"/>
              <a:gd name="csY9" fmla="*/ 486168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4262652"/>
                </a:lnTo>
                <a:lnTo>
                  <a:pt x="10909816" y="4262285"/>
                </a:lnTo>
                <a:lnTo>
                  <a:pt x="11311090" y="4262285"/>
                </a:lnTo>
                <a:cubicBezTo>
                  <a:pt x="11366298" y="4262285"/>
                  <a:pt x="11411053" y="4307040"/>
                  <a:pt x="11411053" y="4362248"/>
                </a:cubicBezTo>
                <a:lnTo>
                  <a:pt x="11411053" y="4762089"/>
                </a:lnTo>
                <a:cubicBezTo>
                  <a:pt x="11411053" y="4817297"/>
                  <a:pt x="11366298" y="4862052"/>
                  <a:pt x="11311090" y="4862052"/>
                </a:cubicBezTo>
                <a:lnTo>
                  <a:pt x="10909816" y="4862052"/>
                </a:lnTo>
                <a:lnTo>
                  <a:pt x="10908000" y="486168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78BE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7E6C9-E3E9-4194-2491-881DDB4B61EF}"/>
              </a:ext>
            </a:extLst>
          </p:cNvPr>
          <p:cNvSpPr txBox="1"/>
          <p:nvPr/>
        </p:nvSpPr>
        <p:spPr>
          <a:xfrm>
            <a:off x="9973330" y="-193004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243FD-8A66-4DC7-1ACB-373729EC0559}"/>
              </a:ext>
            </a:extLst>
          </p:cNvPr>
          <p:cNvSpPr txBox="1"/>
          <p:nvPr/>
        </p:nvSpPr>
        <p:spPr>
          <a:xfrm>
            <a:off x="6797511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Data Cleaning &amp;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1ABC7-4E3C-4C44-4CE3-677ECB2B84F7}"/>
              </a:ext>
            </a:extLst>
          </p:cNvPr>
          <p:cNvSpPr txBox="1"/>
          <p:nvPr/>
        </p:nvSpPr>
        <p:spPr>
          <a:xfrm>
            <a:off x="4368944" y="2576051"/>
            <a:ext cx="676459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Fixed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empty strings → null → float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Standardized "No internet service" to "No" (6 columns)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TenureGroup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(0-12, 13-24, 25-48, 49-72 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AvgMonthlySpend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÷ tenure)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TotalServices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(count of 8 services per customer)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Converted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date_added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from object to datetime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Filled missing Director/Cast with 'Unknown'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Split multi-country entries for proper 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release_decade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(1940s, 1950s,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Parsed duration into minutes (movies) and seasons (TV shows)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317C4B-55B3-38A8-26DB-73A2B50B09C2}"/>
              </a:ext>
            </a:extLst>
          </p:cNvPr>
          <p:cNvSpPr/>
          <p:nvPr/>
        </p:nvSpPr>
        <p:spPr>
          <a:xfrm>
            <a:off x="780945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3129483 h 6858000"/>
              <a:gd name="csX3" fmla="*/ 10909816 w 11411053"/>
              <a:gd name="csY3" fmla="*/ 3129116 h 6858000"/>
              <a:gd name="csX4" fmla="*/ 11311090 w 11411053"/>
              <a:gd name="csY4" fmla="*/ 3129116 h 6858000"/>
              <a:gd name="csX5" fmla="*/ 11411053 w 11411053"/>
              <a:gd name="csY5" fmla="*/ 3229079 h 6858000"/>
              <a:gd name="csX6" fmla="*/ 11411053 w 11411053"/>
              <a:gd name="csY6" fmla="*/ 3628920 h 6858000"/>
              <a:gd name="csX7" fmla="*/ 11311090 w 11411053"/>
              <a:gd name="csY7" fmla="*/ 3728883 h 6858000"/>
              <a:gd name="csX8" fmla="*/ 10909816 w 11411053"/>
              <a:gd name="csY8" fmla="*/ 3728883 h 6858000"/>
              <a:gd name="csX9" fmla="*/ 10908000 w 11411053"/>
              <a:gd name="csY9" fmla="*/ 3728516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3129483"/>
                </a:lnTo>
                <a:lnTo>
                  <a:pt x="10909816" y="3129116"/>
                </a:lnTo>
                <a:lnTo>
                  <a:pt x="11311090" y="3129116"/>
                </a:lnTo>
                <a:cubicBezTo>
                  <a:pt x="11366298" y="3129116"/>
                  <a:pt x="11411053" y="3173871"/>
                  <a:pt x="11411053" y="3229079"/>
                </a:cubicBezTo>
                <a:lnTo>
                  <a:pt x="11411053" y="3628920"/>
                </a:lnTo>
                <a:cubicBezTo>
                  <a:pt x="11411053" y="3684128"/>
                  <a:pt x="11366298" y="3728883"/>
                  <a:pt x="11311090" y="3728883"/>
                </a:cubicBezTo>
                <a:lnTo>
                  <a:pt x="10909816" y="3728883"/>
                </a:lnTo>
                <a:lnTo>
                  <a:pt x="10908000" y="3728516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78FCD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6BB61F-F783-AA07-5423-91A445717AC5}"/>
              </a:ext>
            </a:extLst>
          </p:cNvPr>
          <p:cNvSpPr txBox="1"/>
          <p:nvPr/>
        </p:nvSpPr>
        <p:spPr>
          <a:xfrm>
            <a:off x="10308403" y="-183172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5C31F-8D4F-21DE-E40F-81BBE0A715C4}"/>
              </a:ext>
            </a:extLst>
          </p:cNvPr>
          <p:cNvSpPr txBox="1"/>
          <p:nvPr/>
        </p:nvSpPr>
        <p:spPr>
          <a:xfrm>
            <a:off x="7260404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Key Discoveries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CE72F8-8922-ABE0-7A0A-72E7EB95F2CD}"/>
              </a:ext>
            </a:extLst>
          </p:cNvPr>
          <p:cNvSpPr txBox="1"/>
          <p:nvPr/>
        </p:nvSpPr>
        <p:spPr>
          <a:xfrm>
            <a:off x="4831837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Month-to-month contracts: 45% churn (vs 3% for two-year)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Churned customers pay $20-30 more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50% of churn happens in first 12 months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Electronic check users churn 3x more than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Tenure and </a:t>
            </a:r>
            <a:r>
              <a:rPr lang="en-US" sz="1600" dirty="0" err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TotalCharges</a:t>
            </a: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negatively correlate with churn (-0.35)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Movies dominate at 70.2%, TV shows only 29.8%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Content production increased 5x from 2010-2020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Top 3 genres: International Movies, Dramas, Comedies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US leads (2,500+), India #2 (900+), UK #3 (600+)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TV-MA rated content makes up 35% of library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D9840E5-53DB-42E9-D082-43067FE77095}"/>
              </a:ext>
            </a:extLst>
          </p:cNvPr>
          <p:cNvSpPr/>
          <p:nvPr/>
        </p:nvSpPr>
        <p:spPr>
          <a:xfrm>
            <a:off x="780947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1996314 h 6858000"/>
              <a:gd name="csX3" fmla="*/ 10909816 w 11411053"/>
              <a:gd name="csY3" fmla="*/ 1995947 h 6858000"/>
              <a:gd name="csX4" fmla="*/ 11311090 w 11411053"/>
              <a:gd name="csY4" fmla="*/ 1995947 h 6858000"/>
              <a:gd name="csX5" fmla="*/ 11411053 w 11411053"/>
              <a:gd name="csY5" fmla="*/ 2095910 h 6858000"/>
              <a:gd name="csX6" fmla="*/ 11411053 w 11411053"/>
              <a:gd name="csY6" fmla="*/ 2495751 h 6858000"/>
              <a:gd name="csX7" fmla="*/ 11311090 w 11411053"/>
              <a:gd name="csY7" fmla="*/ 2595714 h 6858000"/>
              <a:gd name="csX8" fmla="*/ 10909816 w 11411053"/>
              <a:gd name="csY8" fmla="*/ 2595714 h 6858000"/>
              <a:gd name="csX9" fmla="*/ 10908000 w 11411053"/>
              <a:gd name="csY9" fmla="*/ 2595348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1996314"/>
                </a:lnTo>
                <a:lnTo>
                  <a:pt x="10909816" y="1995947"/>
                </a:lnTo>
                <a:lnTo>
                  <a:pt x="11311090" y="1995947"/>
                </a:lnTo>
                <a:cubicBezTo>
                  <a:pt x="11366298" y="1995947"/>
                  <a:pt x="11411053" y="2040702"/>
                  <a:pt x="11411053" y="2095910"/>
                </a:cubicBezTo>
                <a:lnTo>
                  <a:pt x="11411053" y="2495751"/>
                </a:lnTo>
                <a:cubicBezTo>
                  <a:pt x="11411053" y="2550959"/>
                  <a:pt x="11366298" y="2595714"/>
                  <a:pt x="11311090" y="2595714"/>
                </a:cubicBezTo>
                <a:lnTo>
                  <a:pt x="10909816" y="2595714"/>
                </a:lnTo>
                <a:lnTo>
                  <a:pt x="10908000" y="2595348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AA7D8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1D294-C871-DF84-4FA6-539D61627DE5}"/>
              </a:ext>
            </a:extLst>
          </p:cNvPr>
          <p:cNvSpPr txBox="1"/>
          <p:nvPr/>
        </p:nvSpPr>
        <p:spPr>
          <a:xfrm>
            <a:off x="10396895" y="-242165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01875-51E9-2C9E-9C37-190AEC7FD7AE}"/>
              </a:ext>
            </a:extLst>
          </p:cNvPr>
          <p:cNvSpPr txBox="1"/>
          <p:nvPr/>
        </p:nvSpPr>
        <p:spPr>
          <a:xfrm>
            <a:off x="7260406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Actionable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DF349A-DDB6-95B5-65AF-086E001CF0D1}"/>
              </a:ext>
            </a:extLst>
          </p:cNvPr>
          <p:cNvSpPr txBox="1"/>
          <p:nvPr/>
        </p:nvSpPr>
        <p:spPr>
          <a:xfrm>
            <a:off x="4831839" y="2576051"/>
            <a:ext cx="67645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Offer 15-20% discounts to convert month-to-month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Create loyalty program for customers paying $80+ monthly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Proactive check-ins at months 1, 3, 6, and 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Provide $5 monthly credit for switching to auto-pay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Bundle online security + tech support at discounted rates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Titles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Increase TV show investment from 30% to 35% of budget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Expand non-English originals in India, UK, South Korea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Greenlight 40% more documentary series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Schedule 40% of new releases for Q4 holiday quarter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Add more family content (TV-PG/TV-G) to diversify ratings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133610-CCD8-85C9-20AB-1B2FA62A6882}"/>
              </a:ext>
            </a:extLst>
          </p:cNvPr>
          <p:cNvSpPr/>
          <p:nvPr/>
        </p:nvSpPr>
        <p:spPr>
          <a:xfrm>
            <a:off x="780944" y="0"/>
            <a:ext cx="11411053" cy="6858000"/>
          </a:xfrm>
          <a:custGeom>
            <a:avLst/>
            <a:gdLst>
              <a:gd name="csX0" fmla="*/ 0 w 11411053"/>
              <a:gd name="csY0" fmla="*/ 0 h 6858000"/>
              <a:gd name="csX1" fmla="*/ 10908000 w 11411053"/>
              <a:gd name="csY1" fmla="*/ 0 h 6858000"/>
              <a:gd name="csX2" fmla="*/ 10908000 w 11411053"/>
              <a:gd name="csY2" fmla="*/ 863145 h 6858000"/>
              <a:gd name="csX3" fmla="*/ 10909816 w 11411053"/>
              <a:gd name="csY3" fmla="*/ 862778 h 6858000"/>
              <a:gd name="csX4" fmla="*/ 11311090 w 11411053"/>
              <a:gd name="csY4" fmla="*/ 862778 h 6858000"/>
              <a:gd name="csX5" fmla="*/ 11411053 w 11411053"/>
              <a:gd name="csY5" fmla="*/ 962741 h 6858000"/>
              <a:gd name="csX6" fmla="*/ 11411053 w 11411053"/>
              <a:gd name="csY6" fmla="*/ 1362582 h 6858000"/>
              <a:gd name="csX7" fmla="*/ 11311090 w 11411053"/>
              <a:gd name="csY7" fmla="*/ 1462545 h 6858000"/>
              <a:gd name="csX8" fmla="*/ 10909816 w 11411053"/>
              <a:gd name="csY8" fmla="*/ 1462545 h 6858000"/>
              <a:gd name="csX9" fmla="*/ 10908000 w 11411053"/>
              <a:gd name="csY9" fmla="*/ 1462179 h 6858000"/>
              <a:gd name="csX10" fmla="*/ 10908000 w 11411053"/>
              <a:gd name="csY10" fmla="*/ 6858000 h 6858000"/>
              <a:gd name="csX11" fmla="*/ 0 w 11411053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411053" h="6858000">
                <a:moveTo>
                  <a:pt x="0" y="0"/>
                </a:moveTo>
                <a:lnTo>
                  <a:pt x="10908000" y="0"/>
                </a:lnTo>
                <a:lnTo>
                  <a:pt x="10908000" y="863145"/>
                </a:lnTo>
                <a:lnTo>
                  <a:pt x="10909816" y="862778"/>
                </a:lnTo>
                <a:lnTo>
                  <a:pt x="11311090" y="862778"/>
                </a:lnTo>
                <a:cubicBezTo>
                  <a:pt x="11366298" y="862778"/>
                  <a:pt x="11411053" y="907533"/>
                  <a:pt x="11411053" y="962741"/>
                </a:cubicBezTo>
                <a:lnTo>
                  <a:pt x="11411053" y="1362582"/>
                </a:lnTo>
                <a:cubicBezTo>
                  <a:pt x="11411053" y="1417790"/>
                  <a:pt x="11366298" y="1462545"/>
                  <a:pt x="11311090" y="1462545"/>
                </a:cubicBezTo>
                <a:lnTo>
                  <a:pt x="10909816" y="1462545"/>
                </a:lnTo>
                <a:lnTo>
                  <a:pt x="10908000" y="1462179"/>
                </a:lnTo>
                <a:lnTo>
                  <a:pt x="1090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EBEE2"/>
          </a:solidFill>
          <a:ln>
            <a:noFill/>
          </a:ln>
          <a:effectLst>
            <a:outerShdw blurRad="127000" dist="635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EC9376-340E-E392-777B-2DED54332783}"/>
              </a:ext>
            </a:extLst>
          </p:cNvPr>
          <p:cNvSpPr txBox="1"/>
          <p:nvPr/>
        </p:nvSpPr>
        <p:spPr>
          <a:xfrm>
            <a:off x="10426389" y="-183171"/>
            <a:ext cx="963561" cy="2215991"/>
          </a:xfrm>
          <a:prstGeom prst="rect">
            <a:avLst/>
          </a:prstGeom>
          <a:solidFill>
            <a:srgbClr val="0B1827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>
                    <a:alpha val="32000"/>
                  </a:schemeClr>
                </a:solidFill>
                <a:latin typeface="Lucida Fax" panose="0206060205050502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19D85E-0F05-7410-D034-BC5F3C71C10F}"/>
              </a:ext>
            </a:extLst>
          </p:cNvPr>
          <p:cNvSpPr txBox="1"/>
          <p:nvPr/>
        </p:nvSpPr>
        <p:spPr>
          <a:xfrm>
            <a:off x="7260403" y="211981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4A4A4A"/>
                </a:solidFill>
                <a:latin typeface="Lucida Bright" panose="02040602050505020304" pitchFamily="18" charset="0"/>
              </a:rPr>
              <a:t>Predictions &amp; Learnings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7548B-C146-C865-FAAE-C91DA2EE1CCA}"/>
              </a:ext>
            </a:extLst>
          </p:cNvPr>
          <p:cNvSpPr txBox="1"/>
          <p:nvPr/>
        </p:nvSpPr>
        <p:spPr>
          <a:xfrm>
            <a:off x="4831836" y="2576051"/>
            <a:ext cx="67645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Future Predictions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churn: 26.5% → 22% with retention programs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Telco auto-pay users: +15% with $5 incentive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new titles: 850 (2025), 900 (2026)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TV show share: 30% → 35% by 2026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Streaming movie duration: 97 → 92 minutes (short-form trend)</a:t>
            </a:r>
          </a:p>
          <a:p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Key Learnings</a:t>
            </a:r>
            <a:endParaRPr lang="en-US" sz="16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Same data science workflow applies to any domain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Data cleaning takes 80% of project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Feature engineering reveals patterns hidden in raw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Small percentage changes create significant business impact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Clear visualizations communicate better than complex statistics</a:t>
            </a:r>
          </a:p>
        </p:txBody>
      </p:sp>
    </p:spTree>
    <p:extLst>
      <p:ext uri="{BB962C8B-B14F-4D97-AF65-F5344CB8AC3E}">
        <p14:creationId xmlns:p14="http://schemas.microsoft.com/office/powerpoint/2010/main" val="3558056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2064</Words>
  <Application>Microsoft Office PowerPoint</Application>
  <PresentationFormat>Widescreen</PresentationFormat>
  <Paragraphs>302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Lucida Bright</vt:lpstr>
      <vt:lpstr>Lucida Fax</vt:lpstr>
      <vt:lpstr>Lucida Sans Unicode</vt:lpstr>
      <vt:lpstr>Perpetua Titling MT</vt:lpstr>
      <vt:lpstr>Sans Serif Collection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basavap0203@outlook.com</dc:creator>
  <cp:lastModifiedBy>basavap0203@outlook.com</cp:lastModifiedBy>
  <cp:revision>2</cp:revision>
  <dcterms:created xsi:type="dcterms:W3CDTF">2026-04-22T17:14:45Z</dcterms:created>
  <dcterms:modified xsi:type="dcterms:W3CDTF">2026-04-23T08:42:06Z</dcterms:modified>
</cp:coreProperties>
</file>